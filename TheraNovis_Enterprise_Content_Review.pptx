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237744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868680"/>
            <a:ext cx="9144000" cy="5486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</a:defRPr>
            </a:pPr>
            <a:r>
              <a:t>TheraNovis Content Review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0"/>
            <a:ext cx="9144000" cy="457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1800" b="0">
                <a:solidFill>
                  <a:srgbClr val="0F172A"/>
                </a:solidFill>
              </a:defRPr>
            </a:pPr>
            <a:r>
              <a:t>Enterprise Product Messaging / Translation / Developer Workflow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291840"/>
            <a:ext cx="9144000" cy="3657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1400" b="0">
                <a:solidFill>
                  <a:srgbClr val="64748B"/>
                </a:solidFill>
              </a:defRPr>
            </a:pPr>
            <a:r>
              <a:t>NovaStain Product Review Meeting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73152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Hero Main Description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713232"/>
            <a:ext cx="2011680" cy="320040"/>
          </a:xfrm>
          <a:prstGeom prst="round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HERO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182880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1400" b="1">
                <a:solidFill>
                  <a:srgbClr val="2563EB"/>
                </a:solidFill>
              </a:defRPr>
            </a:pPr>
            <a:r>
              <a:t>Translation Key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417320"/>
            <a:ext cx="5029200" cy="502920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572768"/>
            <a:ext cx="4572000" cy="1828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</a:defRPr>
            </a:pPr>
            <a:r>
              <a:t>products.novastain.slide1.desc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82880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1400" b="1">
                <a:solidFill>
                  <a:srgbClr val="2563EB"/>
                </a:solidFill>
              </a:defRPr>
            </a:pPr>
            <a:r>
              <a:t>Current EN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423160"/>
            <a:ext cx="512064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697480"/>
            <a:ext cx="4572000" cy="5486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1400" b="0">
                <a:solidFill>
                  <a:srgbClr val="0F172A"/>
                </a:solidFill>
              </a:defRPr>
            </a:pPr>
            <a:r>
              <a:t>Minimizes manual labor and revolutionizes the pathology workflow.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0" y="2148840"/>
            <a:ext cx="182880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1400" b="1">
                <a:solidFill>
                  <a:srgbClr val="2563EB"/>
                </a:solidFill>
              </a:defRPr>
            </a:pPr>
            <a:r>
              <a:t>Current KO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852160" y="2423160"/>
            <a:ext cx="512064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26480" y="2697480"/>
            <a:ext cx="4572000" cy="5486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1400" b="0">
                <a:solidFill>
                  <a:srgbClr val="0F172A"/>
                </a:solidFill>
              </a:defRPr>
            </a:pPr>
            <a:r>
              <a:t>연구자의 수작업을 최소화하고 병리 워크플로우를 혁신적으로 개선합니다.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3703320"/>
            <a:ext cx="182880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1400" b="1">
                <a:solidFill>
                  <a:srgbClr val="16A34A"/>
                </a:solidFill>
              </a:defRPr>
            </a:pPr>
            <a:r>
              <a:t>Revised EN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3977639"/>
            <a:ext cx="5120640" cy="1143000"/>
          </a:xfrm>
          <a:prstGeom prst="roundRect">
            <a:avLst/>
          </a:prstGeom>
          <a:solidFill>
            <a:srgbClr val="F0FDF4"/>
          </a:solidFill>
          <a:ln>
            <a:solidFill>
              <a:srgbClr val="BBF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4279392"/>
            <a:ext cx="4572000" cy="6400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1400" b="0">
                <a:solidFill>
                  <a:srgbClr val="0F172A"/>
                </a:solidFill>
              </a:defRPr>
            </a:pPr>
            <a:r>
              <a:t>Designed to standardize pathology workflows with fully automated precision staining.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52160" y="3703320"/>
            <a:ext cx="182880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1400" b="1">
                <a:solidFill>
                  <a:srgbClr val="16A34A"/>
                </a:solidFill>
              </a:defRPr>
            </a:pPr>
            <a:r>
              <a:t>Revised KO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852160" y="3977639"/>
            <a:ext cx="5120640" cy="1143000"/>
          </a:xfrm>
          <a:prstGeom prst="roundRect">
            <a:avLst/>
          </a:prstGeom>
          <a:solidFill>
            <a:srgbClr val="F0FDF4"/>
          </a:solidFill>
          <a:ln>
            <a:solidFill>
              <a:srgbClr val="BBF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26480" y="4279392"/>
            <a:ext cx="4572000" cy="6400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1400" b="0">
                <a:solidFill>
                  <a:srgbClr val="0F172A"/>
                </a:solidFill>
              </a:defRPr>
            </a:pPr>
            <a:r>
              <a:t>완전 자동화 기반의 정밀 염색으로 병리 워크플로우를 표준화합니다.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5440680"/>
            <a:ext cx="182880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1300" b="1">
                <a:solidFill>
                  <a:srgbClr val="0F172A"/>
                </a:solidFill>
              </a:defRPr>
            </a:pPr>
            <a:r>
              <a:t>Brand Tone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5715000"/>
            <a:ext cx="2560320" cy="548640"/>
          </a:xfrm>
          <a:prstGeom prst="roundRect">
            <a:avLst/>
          </a:prstGeom>
          <a:solidFill>
            <a:srgbClr val="E0F2FE"/>
          </a:solidFill>
          <a:ln>
            <a:solidFill>
              <a:srgbClr val="7DD3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5897880"/>
            <a:ext cx="2103120" cy="1828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1100" b="1">
                <a:solidFill>
                  <a:srgbClr val="2563EB"/>
                </a:solidFill>
              </a:defRPr>
            </a:pPr>
            <a:r>
              <a:t>Enterprise / Clinical / Precision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91840" y="5440680"/>
            <a:ext cx="182880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1300" b="1">
                <a:solidFill>
                  <a:srgbClr val="0F172A"/>
                </a:solidFill>
              </a:defRPr>
            </a:pPr>
            <a:r>
              <a:t>Status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291840" y="5715000"/>
            <a:ext cx="1920240" cy="548640"/>
          </a:xfrm>
          <a:prstGeom prst="roundRect">
            <a:avLst/>
          </a:prstGeom>
          <a:solidFill>
            <a:srgbClr val="FEF9C3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703320" y="5897880"/>
            <a:ext cx="1097280" cy="1828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1100" b="1">
                <a:solidFill>
                  <a:srgbClr val="0F172A"/>
                </a:solidFill>
              </a:defRPr>
            </a:pPr>
            <a:r>
              <a:t>PENDING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0" y="5440680"/>
            <a:ext cx="182880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1300" b="1">
                <a:solidFill>
                  <a:srgbClr val="0F172A"/>
                </a:solidFill>
              </a:defRPr>
            </a:pPr>
            <a:r>
              <a:t>Related Files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486400" y="5715000"/>
            <a:ext cx="265176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669280" y="5852160"/>
            <a:ext cx="2194560" cy="457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1000" b="0">
                <a:solidFill>
                  <a:srgbClr val="0F172A"/>
                </a:solidFill>
              </a:defRPr>
            </a:pPr>
            <a:r>
              <a:t>• translations.ts</a:t>
            </a:r>
          </a:p>
          <a:p>
            <a:r>
              <a:t>• products.ts</a:t>
            </a:r>
          </a:p>
          <a:p>
            <a:r>
              <a:t>• NovaStainGallery.tsx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12480" y="5440680"/>
            <a:ext cx="228600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1300" b="1">
                <a:solidFill>
                  <a:srgbClr val="0F172A"/>
                </a:solidFill>
              </a:defRPr>
            </a:pPr>
            <a:r>
              <a:t>Developer Checklist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412480" y="5715000"/>
            <a:ext cx="256032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595360" y="5833872"/>
            <a:ext cx="2011680" cy="1828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900" b="0">
                <a:solidFill>
                  <a:srgbClr val="0F172A"/>
                </a:solidFill>
              </a:defRPr>
            </a:pPr>
            <a:r>
              <a:t>□ Check mobile line breaks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595360" y="5998464"/>
            <a:ext cx="2011680" cy="1828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900" b="0">
                <a:solidFill>
                  <a:srgbClr val="0F172A"/>
                </a:solidFill>
              </a:defRPr>
            </a:pPr>
            <a:r>
              <a:t>□ Verify animation overflow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595360" y="6163055"/>
            <a:ext cx="2011680" cy="1828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900" b="0">
                <a:solidFill>
                  <a:srgbClr val="0F172A"/>
                </a:solidFill>
              </a:defRPr>
            </a:pPr>
            <a:r>
              <a:t>□ Update SEO metadata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595360" y="6327647"/>
            <a:ext cx="2011680" cy="1828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900" b="0">
                <a:solidFill>
                  <a:srgbClr val="0F172A"/>
                </a:solidFill>
              </a:defRPr>
            </a:pPr>
            <a:r>
              <a:t>□ Validate Korean spacing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6492240"/>
            <a:ext cx="182880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1300" b="1">
                <a:solidFill>
                  <a:srgbClr val="64748B"/>
                </a:solidFill>
              </a:defRPr>
            </a:pPr>
            <a:r>
              <a:t>Revision Reason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57200" y="6766560"/>
            <a:ext cx="10515600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31520" y="6967728"/>
            <a:ext cx="1005840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</a:defRPr>
            </a:pPr>
            <a:r>
              <a:t>Strengthen enterprise-grade biotech positioning and improve clinical reliability messaging.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73152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KPI Label Review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713232"/>
            <a:ext cx="2011680" cy="320040"/>
          </a:xfrm>
          <a:prstGeom prst="round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KPI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182880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1400" b="1">
                <a:solidFill>
                  <a:srgbClr val="2563EB"/>
                </a:solidFill>
              </a:defRPr>
            </a:pPr>
            <a:r>
              <a:t>Translation Key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417320"/>
            <a:ext cx="5029200" cy="502920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572768"/>
            <a:ext cx="4572000" cy="1828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</a:defRPr>
            </a:pPr>
            <a:r>
              <a:t>products.novastain.slide1.kpiLabel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82880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1400" b="1">
                <a:solidFill>
                  <a:srgbClr val="2563EB"/>
                </a:solidFill>
              </a:defRPr>
            </a:pPr>
            <a:r>
              <a:t>Current EN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423160"/>
            <a:ext cx="512064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697480"/>
            <a:ext cx="4572000" cy="5486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1400" b="0">
                <a:solidFill>
                  <a:srgbClr val="0F172A"/>
                </a:solidFill>
              </a:defRPr>
            </a:pPr>
            <a:r>
              <a:t>Manual Intervention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0" y="2148840"/>
            <a:ext cx="182880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1400" b="1">
                <a:solidFill>
                  <a:srgbClr val="2563EB"/>
                </a:solidFill>
              </a:defRPr>
            </a:pPr>
            <a:r>
              <a:t>Current KO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852160" y="2423160"/>
            <a:ext cx="512064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26480" y="2697480"/>
            <a:ext cx="4572000" cy="5486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1400" b="0">
                <a:solidFill>
                  <a:srgbClr val="0F172A"/>
                </a:solidFill>
              </a:defRPr>
            </a:pPr>
            <a:r>
              <a:t>수동 개입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3703320"/>
            <a:ext cx="182880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1400" b="1">
                <a:solidFill>
                  <a:srgbClr val="16A34A"/>
                </a:solidFill>
              </a:defRPr>
            </a:pPr>
            <a:r>
              <a:t>Revised EN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3977639"/>
            <a:ext cx="5120640" cy="1143000"/>
          </a:xfrm>
          <a:prstGeom prst="roundRect">
            <a:avLst/>
          </a:prstGeom>
          <a:solidFill>
            <a:srgbClr val="F0FDF4"/>
          </a:solidFill>
          <a:ln>
            <a:solidFill>
              <a:srgbClr val="BBF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4279392"/>
            <a:ext cx="4572000" cy="6400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1400" b="0">
                <a:solidFill>
                  <a:srgbClr val="0F172A"/>
                </a:solidFill>
              </a:defRPr>
            </a:pPr>
            <a:r>
              <a:t>Hands-Free Automation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52160" y="3703320"/>
            <a:ext cx="182880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1400" b="1">
                <a:solidFill>
                  <a:srgbClr val="16A34A"/>
                </a:solidFill>
              </a:defRPr>
            </a:pPr>
            <a:r>
              <a:t>Revised KO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852160" y="3977639"/>
            <a:ext cx="5120640" cy="1143000"/>
          </a:xfrm>
          <a:prstGeom prst="roundRect">
            <a:avLst/>
          </a:prstGeom>
          <a:solidFill>
            <a:srgbClr val="F0FDF4"/>
          </a:solidFill>
          <a:ln>
            <a:solidFill>
              <a:srgbClr val="BBF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26480" y="4279392"/>
            <a:ext cx="4572000" cy="6400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1400" b="0">
                <a:solidFill>
                  <a:srgbClr val="0F172A"/>
                </a:solidFill>
              </a:defRPr>
            </a:pPr>
            <a:r>
              <a:t>완전 자동화 시스템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5440680"/>
            <a:ext cx="182880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1300" b="1">
                <a:solidFill>
                  <a:srgbClr val="0F172A"/>
                </a:solidFill>
              </a:defRPr>
            </a:pPr>
            <a:r>
              <a:t>Brand Tone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5715000"/>
            <a:ext cx="2560320" cy="548640"/>
          </a:xfrm>
          <a:prstGeom prst="roundRect">
            <a:avLst/>
          </a:prstGeom>
          <a:solidFill>
            <a:srgbClr val="E0F2FE"/>
          </a:solidFill>
          <a:ln>
            <a:solidFill>
              <a:srgbClr val="7DD3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5897880"/>
            <a:ext cx="2103120" cy="1828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1100" b="1">
                <a:solidFill>
                  <a:srgbClr val="2563EB"/>
                </a:solidFill>
              </a:defRPr>
            </a:pPr>
            <a:r>
              <a:t>Automation / Enterprise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91840" y="5440680"/>
            <a:ext cx="182880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1300" b="1">
                <a:solidFill>
                  <a:srgbClr val="0F172A"/>
                </a:solidFill>
              </a:defRPr>
            </a:pPr>
            <a:r>
              <a:t>Status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291840" y="5715000"/>
            <a:ext cx="1920240" cy="548640"/>
          </a:xfrm>
          <a:prstGeom prst="roundRect">
            <a:avLst/>
          </a:prstGeom>
          <a:solidFill>
            <a:srgbClr val="DCFCE7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703320" y="5897880"/>
            <a:ext cx="1097280" cy="1828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1100" b="1">
                <a:solidFill>
                  <a:srgbClr val="0F172A"/>
                </a:solidFill>
              </a:defRPr>
            </a:pPr>
            <a:r>
              <a:t>APPROVED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0" y="5440680"/>
            <a:ext cx="182880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1300" b="1">
                <a:solidFill>
                  <a:srgbClr val="0F172A"/>
                </a:solidFill>
              </a:defRPr>
            </a:pPr>
            <a:r>
              <a:t>Related Files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486400" y="5715000"/>
            <a:ext cx="265176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669280" y="5852160"/>
            <a:ext cx="2194560" cy="457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1000" b="0">
                <a:solidFill>
                  <a:srgbClr val="0F172A"/>
                </a:solidFill>
              </a:defRPr>
            </a:pPr>
            <a:r>
              <a:t>• NovaMetrics.tsx</a:t>
            </a:r>
          </a:p>
          <a:p>
            <a:r>
              <a:t>• translations.ts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12480" y="5440680"/>
            <a:ext cx="228600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1300" b="1">
                <a:solidFill>
                  <a:srgbClr val="0F172A"/>
                </a:solidFill>
              </a:defRPr>
            </a:pPr>
            <a:r>
              <a:t>Developer Checklist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412480" y="5715000"/>
            <a:ext cx="256032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595360" y="5833872"/>
            <a:ext cx="2011680" cy="1828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900" b="0">
                <a:solidFill>
                  <a:srgbClr val="0F172A"/>
                </a:solidFill>
              </a:defRPr>
            </a:pPr>
            <a:r>
              <a:t>□ Desktop alignment QA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595360" y="5998464"/>
            <a:ext cx="2011680" cy="1828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900" b="0">
                <a:solidFill>
                  <a:srgbClr val="0F172A"/>
                </a:solidFill>
              </a:defRPr>
            </a:pPr>
            <a:r>
              <a:t>□ Check responsive layout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595360" y="6163055"/>
            <a:ext cx="2011680" cy="1828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900" b="0">
                <a:solidFill>
                  <a:srgbClr val="0F172A"/>
                </a:solidFill>
              </a:defRPr>
            </a:pPr>
            <a:r>
              <a:t>□ Update KPI animation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" y="6492240"/>
            <a:ext cx="182880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1300" b="1">
                <a:solidFill>
                  <a:srgbClr val="64748B"/>
                </a:solidFill>
              </a:defRPr>
            </a:pPr>
            <a:r>
              <a:t>Revision Reason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57200" y="6766560"/>
            <a:ext cx="10515600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31520" y="6967728"/>
            <a:ext cx="1005840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</a:defRPr>
            </a:pPr>
            <a:r>
              <a:t>More premium and scalable workflow positioning.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73152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Validation Copy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713232"/>
            <a:ext cx="2011680" cy="320040"/>
          </a:xfrm>
          <a:prstGeom prst="round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VALIDATION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182880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1400" b="1">
                <a:solidFill>
                  <a:srgbClr val="2563EB"/>
                </a:solidFill>
              </a:defRPr>
            </a:pPr>
            <a:r>
              <a:t>Translation Key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417320"/>
            <a:ext cx="5029200" cy="502920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572768"/>
            <a:ext cx="4572000" cy="1828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</a:defRPr>
            </a:pPr>
            <a:r>
              <a:t>products.novastain.validation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82880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1400" b="1">
                <a:solidFill>
                  <a:srgbClr val="2563EB"/>
                </a:solidFill>
              </a:defRPr>
            </a:pPr>
            <a:r>
              <a:t>Current EN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423160"/>
            <a:ext cx="512064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697480"/>
            <a:ext cx="4572000" cy="5486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1400" b="0">
                <a:solidFill>
                  <a:srgbClr val="0F172A"/>
                </a:solidFill>
              </a:defRPr>
            </a:pPr>
            <a:r>
              <a:t>Validation data available upon request.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0" y="2148840"/>
            <a:ext cx="182880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1400" b="1">
                <a:solidFill>
                  <a:srgbClr val="2563EB"/>
                </a:solidFill>
              </a:defRPr>
            </a:pPr>
            <a:r>
              <a:t>Current KO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852160" y="2423160"/>
            <a:ext cx="512064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26480" y="2697480"/>
            <a:ext cx="4572000" cy="5486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1400" b="0">
                <a:solidFill>
                  <a:srgbClr val="0F172A"/>
                </a:solidFill>
              </a:defRPr>
            </a:pPr>
            <a:r>
              <a:t>검증 데이터는 요청 시 제공됩니다.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3703320"/>
            <a:ext cx="182880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1400" b="1">
                <a:solidFill>
                  <a:srgbClr val="16A34A"/>
                </a:solidFill>
              </a:defRPr>
            </a:pPr>
            <a:r>
              <a:t>Revised EN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3977639"/>
            <a:ext cx="5120640" cy="1143000"/>
          </a:xfrm>
          <a:prstGeom prst="roundRect">
            <a:avLst/>
          </a:prstGeom>
          <a:solidFill>
            <a:srgbClr val="F0FDF4"/>
          </a:solidFill>
          <a:ln>
            <a:solidFill>
              <a:srgbClr val="BBF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4279392"/>
            <a:ext cx="4572000" cy="6400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1400" b="0">
                <a:solidFill>
                  <a:srgbClr val="0F172A"/>
                </a:solidFill>
              </a:defRPr>
            </a:pPr>
            <a:r>
              <a:t>Download comprehensive validation documentation and performance data.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52160" y="3703320"/>
            <a:ext cx="182880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1400" b="1">
                <a:solidFill>
                  <a:srgbClr val="16A34A"/>
                </a:solidFill>
              </a:defRPr>
            </a:pPr>
            <a:r>
              <a:t>Revised KO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852160" y="3977639"/>
            <a:ext cx="5120640" cy="1143000"/>
          </a:xfrm>
          <a:prstGeom prst="roundRect">
            <a:avLst/>
          </a:prstGeom>
          <a:solidFill>
            <a:srgbClr val="F0FDF4"/>
          </a:solidFill>
          <a:ln>
            <a:solidFill>
              <a:srgbClr val="BBF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26480" y="4279392"/>
            <a:ext cx="4572000" cy="6400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1400" b="0">
                <a:solidFill>
                  <a:srgbClr val="0F172A"/>
                </a:solidFill>
              </a:defRPr>
            </a:pPr>
            <a:r>
              <a:t>종합 검증 문서 및 성능 데이터를 다운로드할 수 있습니다.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5440680"/>
            <a:ext cx="182880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1300" b="1">
                <a:solidFill>
                  <a:srgbClr val="0F172A"/>
                </a:solidFill>
              </a:defRPr>
            </a:pPr>
            <a:r>
              <a:t>Brand Tone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5715000"/>
            <a:ext cx="2560320" cy="548640"/>
          </a:xfrm>
          <a:prstGeom prst="roundRect">
            <a:avLst/>
          </a:prstGeom>
          <a:solidFill>
            <a:srgbClr val="E0F2FE"/>
          </a:solidFill>
          <a:ln>
            <a:solidFill>
              <a:srgbClr val="7DD3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5897880"/>
            <a:ext cx="2103120" cy="1828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1100" b="1">
                <a:solidFill>
                  <a:srgbClr val="2563EB"/>
                </a:solidFill>
              </a:defRPr>
            </a:pPr>
            <a:r>
              <a:t>Clinical / Trust / Professional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91840" y="5440680"/>
            <a:ext cx="182880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1300" b="1">
                <a:solidFill>
                  <a:srgbClr val="0F172A"/>
                </a:solidFill>
              </a:defRPr>
            </a:pPr>
            <a:r>
              <a:t>Status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291840" y="5715000"/>
            <a:ext cx="1920240" cy="548640"/>
          </a:xfrm>
          <a:prstGeom prst="roundRect">
            <a:avLst/>
          </a:prstGeom>
          <a:solidFill>
            <a:srgbClr val="FEF9C3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703320" y="5897880"/>
            <a:ext cx="1097280" cy="1828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1100" b="1">
                <a:solidFill>
                  <a:srgbClr val="0F172A"/>
                </a:solidFill>
              </a:defRPr>
            </a:pPr>
            <a:r>
              <a:t>PENDING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0" y="5440680"/>
            <a:ext cx="182880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1300" b="1">
                <a:solidFill>
                  <a:srgbClr val="0F172A"/>
                </a:solidFill>
              </a:defRPr>
            </a:pPr>
            <a:r>
              <a:t>Related Files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486400" y="5715000"/>
            <a:ext cx="265176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669280" y="5852160"/>
            <a:ext cx="2194560" cy="457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1000" b="0">
                <a:solidFill>
                  <a:srgbClr val="0F172A"/>
                </a:solidFill>
              </a:defRPr>
            </a:pPr>
            <a:r>
              <a:t>• Validation.tsx</a:t>
            </a:r>
          </a:p>
          <a:p>
            <a:r>
              <a:t>• translations.ts</a:t>
            </a:r>
          </a:p>
          <a:p>
            <a:r>
              <a:t>• ProductOverview.tsx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12480" y="5440680"/>
            <a:ext cx="228600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1300" b="1">
                <a:solidFill>
                  <a:srgbClr val="0F172A"/>
                </a:solidFill>
              </a:defRPr>
            </a:pPr>
            <a:r>
              <a:t>Developer Checklist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412480" y="5715000"/>
            <a:ext cx="256032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595360" y="5833872"/>
            <a:ext cx="2011680" cy="1828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900" b="0">
                <a:solidFill>
                  <a:srgbClr val="0F172A"/>
                </a:solidFill>
              </a:defRPr>
            </a:pPr>
            <a:r>
              <a:t>□ Add download CTA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595360" y="5998464"/>
            <a:ext cx="2011680" cy="1828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900" b="0">
                <a:solidFill>
                  <a:srgbClr val="0F172A"/>
                </a:solidFill>
              </a:defRPr>
            </a:pPr>
            <a:r>
              <a:t>□ Check PDF link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595360" y="6163055"/>
            <a:ext cx="2011680" cy="1828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900" b="0">
                <a:solidFill>
                  <a:srgbClr val="0F172A"/>
                </a:solidFill>
              </a:defRPr>
            </a:pPr>
            <a:r>
              <a:t>□ Update hover state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" y="6492240"/>
            <a:ext cx="182880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1300" b="1">
                <a:solidFill>
                  <a:srgbClr val="64748B"/>
                </a:solidFill>
              </a:defRPr>
            </a:pPr>
            <a:r>
              <a:t>Revision Reason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57200" y="6766560"/>
            <a:ext cx="10515600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31520" y="6967728"/>
            <a:ext cx="1005840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</a:defRPr>
            </a:pPr>
            <a:r>
              <a:t>Increase product trust and strengthen enterprise confidence.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73152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Meeting Summary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713232"/>
            <a:ext cx="2011680" cy="320040"/>
          </a:xfrm>
          <a:prstGeom prst="round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FINAL ACTION ITEMS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371600"/>
          <a:ext cx="109728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2194560"/>
                <a:gridCol w="2194560"/>
                <a:gridCol w="2194560"/>
                <a:gridCol w="2194560"/>
              </a:tblGrid>
              <a:tr h="514350"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Section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Translation Key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Priority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Status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Developer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r>
                        <a:t>Hero Copy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slide1.desc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HIGH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PENDING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514350">
                <a:tc>
                  <a:txBody>
                    <a:bodyPr/>
                    <a:lstStyle/>
                    <a:p>
                      <a:r>
                        <a:t>KPI Label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slide1.kpiLabel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HIGH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APPROVED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514350">
                <a:tc>
                  <a:txBody>
                    <a:bodyPr/>
                    <a:lstStyle/>
                    <a:p>
                      <a:r>
                        <a:t>Validation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validation.copy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MEDIUM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PENDING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514350">
                <a:tc>
                  <a:txBody>
                    <a:bodyPr/>
                    <a:lstStyle/>
                    <a:p>
                      <a:r>
                        <a:t>CTA Copy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cta.primary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HIGH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PENDING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514350">
                <a:tc>
                  <a:txBody>
                    <a:bodyPr/>
                    <a:lstStyle/>
                    <a:p>
                      <a:r>
                        <a:t>SEO Copy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seo.meta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HIGH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PENDING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514350">
                <a:tc>
                  <a:txBody>
                    <a:bodyPr/>
                    <a:lstStyle/>
                    <a:p>
                      <a:r>
                        <a:t>Mobile QA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responsive.review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MEDIUM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PENDING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514350">
                <a:tc>
                  <a:txBody>
                    <a:bodyPr/>
                    <a:lstStyle/>
                    <a:p>
                      <a:r>
                        <a:t>Translation QA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ko.localization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HIGH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PENDING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